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3"/>
          <p:cNvSpPr/>
          <p:nvPr/>
        </p:nvSpPr>
        <p:spPr>
          <a:xfrm>
            <a:off x="0" y="86"/>
            <a:ext cx="12191695" cy="685782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5"/>
          <p:cNvSpPr/>
          <p:nvPr/>
        </p:nvSpPr>
        <p:spPr>
          <a:xfrm>
            <a:off x="0" y="86"/>
            <a:ext cx="12191695" cy="4000400"/>
          </a:xfrm>
          <a:prstGeom prst="rect">
            <a:avLst/>
          </a:prstGeom>
          <a:solidFill>
            <a:srgbClr val="339999"/>
          </a:solidFill>
          <a:ln/>
        </p:spPr>
      </p:sp>
      <p:sp>
        <p:nvSpPr>
          <p:cNvPr id="4" name="TextBox 7"/>
          <p:cNvSpPr/>
          <p:nvPr/>
        </p:nvSpPr>
        <p:spPr>
          <a:xfrm>
            <a:off x="4010520" y="1495473"/>
            <a:ext cx="4170655" cy="53338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基于Pencil的PPT模板</a:t>
            </a:r>
            <a:endParaRPr lang="en-US" sz="3300" dirty="0"/>
          </a:p>
        </p:txBody>
      </p:sp>
      <p:sp>
        <p:nvSpPr>
          <p:cNvPr id="5" name="TextBox 9"/>
          <p:cNvSpPr/>
          <p:nvPr/>
        </p:nvSpPr>
        <p:spPr>
          <a:xfrm>
            <a:off x="5020889" y="2219355"/>
            <a:ext cx="2149917" cy="28574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“基于AI的 PPT 模板”</a:t>
            </a:r>
            <a:endParaRPr lang="en-US" sz="1800" dirty="0"/>
          </a:p>
        </p:txBody>
      </p:sp>
      <p:sp>
        <p:nvSpPr>
          <p:cNvPr id="6" name="Shape 12"/>
          <p:cNvSpPr/>
          <p:nvPr/>
        </p:nvSpPr>
        <p:spPr>
          <a:xfrm>
            <a:off x="0" y="4000486"/>
            <a:ext cx="12191695" cy="285742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TextBox 14"/>
          <p:cNvSpPr/>
          <p:nvPr/>
        </p:nvSpPr>
        <p:spPr>
          <a:xfrm>
            <a:off x="5608745" y="5210130"/>
            <a:ext cx="974056" cy="17144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汇报人：Baffalo</a:t>
            </a:r>
            <a:endParaRPr lang="en-US" sz="1050" dirty="0"/>
          </a:p>
        </p:txBody>
      </p:sp>
      <p:sp>
        <p:nvSpPr>
          <p:cNvPr id="8" name="TextBox 16"/>
          <p:cNvSpPr/>
          <p:nvPr/>
        </p:nvSpPr>
        <p:spPr>
          <a:xfrm>
            <a:off x="5273295" y="5476824"/>
            <a:ext cx="1645105" cy="17144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发布时间：2026年4月22日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3"/>
          <p:cNvSpPr/>
          <p:nvPr/>
        </p:nvSpPr>
        <p:spPr>
          <a:xfrm>
            <a:off x="0" y="86"/>
            <a:ext cx="12191695" cy="685782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Box 5"/>
          <p:cNvSpPr/>
          <p:nvPr/>
        </p:nvSpPr>
        <p:spPr>
          <a:xfrm>
            <a:off x="761981" y="285829"/>
            <a:ext cx="5359167" cy="115249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0" b="1" dirty="0">
                <a:solidFill>
                  <a:srgbClr val="DDDDD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CONTENTS</a:t>
            </a:r>
            <a:endParaRPr lang="en-US" sz="7500" dirty="0"/>
          </a:p>
        </p:txBody>
      </p:sp>
      <p:sp>
        <p:nvSpPr>
          <p:cNvPr id="4" name="TextBox 7"/>
          <p:cNvSpPr/>
          <p:nvPr/>
        </p:nvSpPr>
        <p:spPr>
          <a:xfrm>
            <a:off x="761981" y="1628820"/>
            <a:ext cx="1590486" cy="3333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33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PPT模板内容</a:t>
            </a:r>
            <a:endParaRPr lang="en-US" sz="2100" dirty="0"/>
          </a:p>
        </p:txBody>
      </p:sp>
      <p:sp>
        <p:nvSpPr>
          <p:cNvPr id="5" name="Shape 9"/>
          <p:cNvSpPr/>
          <p:nvPr/>
        </p:nvSpPr>
        <p:spPr>
          <a:xfrm>
            <a:off x="761981" y="2152682"/>
            <a:ext cx="10667733" cy="28574"/>
          </a:xfrm>
          <a:prstGeom prst="rect">
            <a:avLst/>
          </a:prstGeom>
          <a:solidFill>
            <a:srgbClr val="666666"/>
          </a:solidFill>
          <a:ln/>
        </p:spPr>
      </p:sp>
      <p:sp>
        <p:nvSpPr>
          <p:cNvPr id="6" name="Shape 17"/>
          <p:cNvSpPr/>
          <p:nvPr/>
        </p:nvSpPr>
        <p:spPr>
          <a:xfrm>
            <a:off x="761981" y="2371751"/>
            <a:ext cx="266693" cy="266693"/>
          </a:xfrm>
          <a:prstGeom prst="ellipse">
            <a:avLst/>
          </a:prstGeom>
          <a:solidFill>
            <a:srgbClr val="339999"/>
          </a:solidFill>
          <a:ln/>
        </p:spPr>
      </p:sp>
      <p:sp>
        <p:nvSpPr>
          <p:cNvPr id="7" name="TextBox 19"/>
          <p:cNvSpPr/>
          <p:nvPr/>
        </p:nvSpPr>
        <p:spPr>
          <a:xfrm>
            <a:off x="866456" y="2424138"/>
            <a:ext cx="57595" cy="16192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050" dirty="0"/>
          </a:p>
        </p:txBody>
      </p:sp>
      <p:sp>
        <p:nvSpPr>
          <p:cNvPr id="8" name="TextBox 22"/>
          <p:cNvSpPr/>
          <p:nvPr/>
        </p:nvSpPr>
        <p:spPr>
          <a:xfrm>
            <a:off x="1123922" y="2405088"/>
            <a:ext cx="693224" cy="2000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75" dirty="0">
                <a:solidFill>
                  <a:srgbClr val="33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封面页 ↗</a:t>
            </a:r>
            <a:endParaRPr lang="en-US" sz="1275" dirty="0"/>
          </a:p>
        </p:txBody>
      </p:sp>
      <p:sp>
        <p:nvSpPr>
          <p:cNvPr id="9" name="Shape 27"/>
          <p:cNvSpPr/>
          <p:nvPr/>
        </p:nvSpPr>
        <p:spPr>
          <a:xfrm>
            <a:off x="761981" y="2905138"/>
            <a:ext cx="266693" cy="266693"/>
          </a:xfrm>
          <a:prstGeom prst="ellipse">
            <a:avLst/>
          </a:prstGeom>
          <a:solidFill>
            <a:srgbClr val="339999"/>
          </a:solidFill>
          <a:ln/>
        </p:spPr>
      </p:sp>
      <p:sp>
        <p:nvSpPr>
          <p:cNvPr id="10" name="TextBox 29"/>
          <p:cNvSpPr/>
          <p:nvPr/>
        </p:nvSpPr>
        <p:spPr>
          <a:xfrm>
            <a:off x="852169" y="2957524"/>
            <a:ext cx="86169" cy="16192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050" dirty="0"/>
          </a:p>
        </p:txBody>
      </p:sp>
      <p:sp>
        <p:nvSpPr>
          <p:cNvPr id="11" name="TextBox 32"/>
          <p:cNvSpPr/>
          <p:nvPr/>
        </p:nvSpPr>
        <p:spPr>
          <a:xfrm>
            <a:off x="1123922" y="2938475"/>
            <a:ext cx="855145" cy="2000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75" dirty="0">
                <a:solidFill>
                  <a:srgbClr val="33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关于模板 ↗</a:t>
            </a:r>
            <a:endParaRPr lang="en-US" sz="1275" dirty="0"/>
          </a:p>
        </p:txBody>
      </p:sp>
      <p:sp>
        <p:nvSpPr>
          <p:cNvPr id="12" name="Shape 37"/>
          <p:cNvSpPr/>
          <p:nvPr/>
        </p:nvSpPr>
        <p:spPr>
          <a:xfrm>
            <a:off x="761981" y="3438525"/>
            <a:ext cx="266693" cy="266693"/>
          </a:xfrm>
          <a:prstGeom prst="ellipse">
            <a:avLst/>
          </a:prstGeom>
          <a:solidFill>
            <a:srgbClr val="339999"/>
          </a:solidFill>
          <a:ln/>
        </p:spPr>
      </p:sp>
      <p:sp>
        <p:nvSpPr>
          <p:cNvPr id="13" name="TextBox 39"/>
          <p:cNvSpPr/>
          <p:nvPr/>
        </p:nvSpPr>
        <p:spPr>
          <a:xfrm>
            <a:off x="853806" y="3490911"/>
            <a:ext cx="83044" cy="16192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1050" dirty="0"/>
          </a:p>
        </p:txBody>
      </p:sp>
      <p:sp>
        <p:nvSpPr>
          <p:cNvPr id="14" name="TextBox 42"/>
          <p:cNvSpPr/>
          <p:nvPr/>
        </p:nvSpPr>
        <p:spPr>
          <a:xfrm>
            <a:off x="1123922" y="3471861"/>
            <a:ext cx="1178987" cy="2000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75" dirty="0">
                <a:solidFill>
                  <a:srgbClr val="33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品字型分栏页 ↗</a:t>
            </a:r>
            <a:endParaRPr lang="en-US" sz="1275" dirty="0"/>
          </a:p>
        </p:txBody>
      </p:sp>
      <p:sp>
        <p:nvSpPr>
          <p:cNvPr id="15" name="Shape 47"/>
          <p:cNvSpPr/>
          <p:nvPr/>
        </p:nvSpPr>
        <p:spPr>
          <a:xfrm>
            <a:off x="761981" y="3971911"/>
            <a:ext cx="266693" cy="266693"/>
          </a:xfrm>
          <a:prstGeom prst="ellipse">
            <a:avLst/>
          </a:prstGeom>
          <a:solidFill>
            <a:srgbClr val="339999"/>
          </a:solidFill>
          <a:ln/>
        </p:spPr>
      </p:sp>
      <p:sp>
        <p:nvSpPr>
          <p:cNvPr id="16" name="TextBox 49"/>
          <p:cNvSpPr/>
          <p:nvPr/>
        </p:nvSpPr>
        <p:spPr>
          <a:xfrm>
            <a:off x="856484" y="4024298"/>
            <a:ext cx="77686" cy="16192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</a:t>
            </a:r>
            <a:endParaRPr lang="en-US" sz="1050" dirty="0"/>
          </a:p>
        </p:txBody>
      </p:sp>
      <p:sp>
        <p:nvSpPr>
          <p:cNvPr id="17" name="TextBox 52"/>
          <p:cNvSpPr/>
          <p:nvPr/>
        </p:nvSpPr>
        <p:spPr>
          <a:xfrm>
            <a:off x="1123922" y="4005248"/>
            <a:ext cx="1017066" cy="2000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75" dirty="0">
                <a:solidFill>
                  <a:srgbClr val="33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代码块高亮 ↗</a:t>
            </a:r>
            <a:endParaRPr lang="en-US" sz="1275" dirty="0"/>
          </a:p>
        </p:txBody>
      </p:sp>
      <p:sp>
        <p:nvSpPr>
          <p:cNvPr id="18" name="Shape 57"/>
          <p:cNvSpPr/>
          <p:nvPr/>
        </p:nvSpPr>
        <p:spPr>
          <a:xfrm>
            <a:off x="761981" y="4505298"/>
            <a:ext cx="266693" cy="266693"/>
          </a:xfrm>
          <a:prstGeom prst="ellipse">
            <a:avLst/>
          </a:prstGeom>
          <a:solidFill>
            <a:srgbClr val="339999"/>
          </a:solidFill>
          <a:ln/>
        </p:spPr>
      </p:sp>
      <p:sp>
        <p:nvSpPr>
          <p:cNvPr id="19" name="TextBox 59"/>
          <p:cNvSpPr/>
          <p:nvPr/>
        </p:nvSpPr>
        <p:spPr>
          <a:xfrm>
            <a:off x="852020" y="4557684"/>
            <a:ext cx="86616" cy="16192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</a:t>
            </a:r>
            <a:endParaRPr lang="en-US" sz="1050" dirty="0"/>
          </a:p>
        </p:txBody>
      </p:sp>
      <p:sp>
        <p:nvSpPr>
          <p:cNvPr id="20" name="TextBox 62"/>
          <p:cNvSpPr/>
          <p:nvPr/>
        </p:nvSpPr>
        <p:spPr>
          <a:xfrm>
            <a:off x="1123922" y="4538635"/>
            <a:ext cx="693224" cy="2000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75" dirty="0">
                <a:solidFill>
                  <a:srgbClr val="33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表格页 ↗</a:t>
            </a:r>
            <a:endParaRPr lang="en-US" sz="1275" dirty="0"/>
          </a:p>
        </p:txBody>
      </p:sp>
      <p:sp>
        <p:nvSpPr>
          <p:cNvPr id="21" name="Shape 70"/>
          <p:cNvSpPr/>
          <p:nvPr/>
        </p:nvSpPr>
        <p:spPr>
          <a:xfrm>
            <a:off x="6381590" y="2371751"/>
            <a:ext cx="266693" cy="266693"/>
          </a:xfrm>
          <a:prstGeom prst="ellipse">
            <a:avLst/>
          </a:prstGeom>
          <a:solidFill>
            <a:srgbClr val="339999"/>
          </a:solidFill>
          <a:ln/>
        </p:spPr>
      </p:sp>
      <p:sp>
        <p:nvSpPr>
          <p:cNvPr id="22" name="TextBox 72"/>
          <p:cNvSpPr/>
          <p:nvPr/>
        </p:nvSpPr>
        <p:spPr>
          <a:xfrm>
            <a:off x="6472820" y="2424138"/>
            <a:ext cx="84086" cy="16192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050" dirty="0"/>
          </a:p>
        </p:txBody>
      </p:sp>
      <p:sp>
        <p:nvSpPr>
          <p:cNvPr id="23" name="TextBox 75"/>
          <p:cNvSpPr/>
          <p:nvPr/>
        </p:nvSpPr>
        <p:spPr>
          <a:xfrm>
            <a:off x="6743531" y="2405088"/>
            <a:ext cx="693224" cy="2000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75" dirty="0">
                <a:solidFill>
                  <a:srgbClr val="33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目录页 ↗</a:t>
            </a:r>
            <a:endParaRPr lang="en-US" sz="1275" dirty="0"/>
          </a:p>
        </p:txBody>
      </p:sp>
      <p:sp>
        <p:nvSpPr>
          <p:cNvPr id="24" name="Shape 80"/>
          <p:cNvSpPr/>
          <p:nvPr/>
        </p:nvSpPr>
        <p:spPr>
          <a:xfrm>
            <a:off x="6381590" y="2905138"/>
            <a:ext cx="266693" cy="266693"/>
          </a:xfrm>
          <a:prstGeom prst="ellipse">
            <a:avLst/>
          </a:prstGeom>
          <a:solidFill>
            <a:srgbClr val="339999"/>
          </a:solidFill>
          <a:ln/>
        </p:spPr>
      </p:sp>
      <p:sp>
        <p:nvSpPr>
          <p:cNvPr id="25" name="TextBox 82"/>
          <p:cNvSpPr/>
          <p:nvPr/>
        </p:nvSpPr>
        <p:spPr>
          <a:xfrm>
            <a:off x="6469843" y="2957524"/>
            <a:ext cx="90188" cy="16192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050" dirty="0"/>
          </a:p>
        </p:txBody>
      </p:sp>
      <p:sp>
        <p:nvSpPr>
          <p:cNvPr id="26" name="TextBox 85"/>
          <p:cNvSpPr/>
          <p:nvPr/>
        </p:nvSpPr>
        <p:spPr>
          <a:xfrm>
            <a:off x="6743531" y="2938475"/>
            <a:ext cx="1017066" cy="2000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75" dirty="0">
                <a:solidFill>
                  <a:srgbClr val="33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两栏图文页 ↗</a:t>
            </a:r>
            <a:endParaRPr lang="en-US" sz="1275" dirty="0"/>
          </a:p>
        </p:txBody>
      </p:sp>
      <p:sp>
        <p:nvSpPr>
          <p:cNvPr id="27" name="Shape 90"/>
          <p:cNvSpPr/>
          <p:nvPr/>
        </p:nvSpPr>
        <p:spPr>
          <a:xfrm>
            <a:off x="6381590" y="3438525"/>
            <a:ext cx="266693" cy="266693"/>
          </a:xfrm>
          <a:prstGeom prst="ellipse">
            <a:avLst/>
          </a:prstGeom>
          <a:solidFill>
            <a:srgbClr val="339999"/>
          </a:solidFill>
          <a:ln/>
        </p:spPr>
      </p:sp>
      <p:sp>
        <p:nvSpPr>
          <p:cNvPr id="28" name="TextBox 92"/>
          <p:cNvSpPr/>
          <p:nvPr/>
        </p:nvSpPr>
        <p:spPr>
          <a:xfrm>
            <a:off x="6471629" y="3490911"/>
            <a:ext cx="86616" cy="16192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1050" dirty="0"/>
          </a:p>
        </p:txBody>
      </p:sp>
      <p:sp>
        <p:nvSpPr>
          <p:cNvPr id="29" name="TextBox 95"/>
          <p:cNvSpPr/>
          <p:nvPr/>
        </p:nvSpPr>
        <p:spPr>
          <a:xfrm>
            <a:off x="6743531" y="3471861"/>
            <a:ext cx="1826671" cy="2000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75" dirty="0">
                <a:solidFill>
                  <a:srgbClr val="33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引用、链接和引用盒子 ↗</a:t>
            </a:r>
            <a:endParaRPr lang="en-US" sz="1275" dirty="0"/>
          </a:p>
        </p:txBody>
      </p:sp>
      <p:sp>
        <p:nvSpPr>
          <p:cNvPr id="30" name="Shape 100"/>
          <p:cNvSpPr/>
          <p:nvPr/>
        </p:nvSpPr>
        <p:spPr>
          <a:xfrm>
            <a:off x="6381590" y="3971911"/>
            <a:ext cx="266693" cy="266693"/>
          </a:xfrm>
          <a:prstGeom prst="ellipse">
            <a:avLst/>
          </a:prstGeom>
          <a:solidFill>
            <a:srgbClr val="339999"/>
          </a:solidFill>
          <a:ln/>
        </p:spPr>
      </p:sp>
      <p:sp>
        <p:nvSpPr>
          <p:cNvPr id="31" name="TextBox 102"/>
          <p:cNvSpPr/>
          <p:nvPr/>
        </p:nvSpPr>
        <p:spPr>
          <a:xfrm>
            <a:off x="6471480" y="4024298"/>
            <a:ext cx="86913" cy="16192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</a:t>
            </a:r>
            <a:endParaRPr lang="en-US" sz="1050" dirty="0"/>
          </a:p>
        </p:txBody>
      </p:sp>
      <p:sp>
        <p:nvSpPr>
          <p:cNvPr id="32" name="TextBox 105"/>
          <p:cNvSpPr/>
          <p:nvPr/>
        </p:nvSpPr>
        <p:spPr>
          <a:xfrm>
            <a:off x="6743531" y="4005248"/>
            <a:ext cx="1017066" cy="2000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75" dirty="0">
                <a:solidFill>
                  <a:srgbClr val="33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流程图示例 ↗</a:t>
            </a:r>
            <a:endParaRPr lang="en-US" sz="1275" dirty="0"/>
          </a:p>
        </p:txBody>
      </p:sp>
      <p:sp>
        <p:nvSpPr>
          <p:cNvPr id="33" name="Shape 110"/>
          <p:cNvSpPr/>
          <p:nvPr/>
        </p:nvSpPr>
        <p:spPr>
          <a:xfrm>
            <a:off x="6381590" y="4505298"/>
            <a:ext cx="266693" cy="266693"/>
          </a:xfrm>
          <a:prstGeom prst="ellipse">
            <a:avLst/>
          </a:prstGeom>
          <a:solidFill>
            <a:srgbClr val="339999"/>
          </a:solidFill>
          <a:ln/>
        </p:spPr>
      </p:sp>
      <p:sp>
        <p:nvSpPr>
          <p:cNvPr id="34" name="TextBox 112"/>
          <p:cNvSpPr/>
          <p:nvPr/>
        </p:nvSpPr>
        <p:spPr>
          <a:xfrm>
            <a:off x="6441120" y="4557684"/>
            <a:ext cx="147485" cy="16192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</a:t>
            </a:r>
            <a:endParaRPr lang="en-US" sz="1050" dirty="0"/>
          </a:p>
        </p:txBody>
      </p:sp>
      <p:sp>
        <p:nvSpPr>
          <p:cNvPr id="35" name="TextBox 115"/>
          <p:cNvSpPr/>
          <p:nvPr/>
        </p:nvSpPr>
        <p:spPr>
          <a:xfrm>
            <a:off x="6743531" y="4543397"/>
            <a:ext cx="652446" cy="1904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33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感谢页 ↗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3"/>
          <p:cNvSpPr/>
          <p:nvPr/>
        </p:nvSpPr>
        <p:spPr>
          <a:xfrm>
            <a:off x="0" y="86"/>
            <a:ext cx="12191695" cy="685782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Box 5"/>
          <p:cNvSpPr/>
          <p:nvPr/>
        </p:nvSpPr>
        <p:spPr>
          <a:xfrm>
            <a:off x="952476" y="571571"/>
            <a:ext cx="1066773" cy="3333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33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关于模板</a:t>
            </a:r>
            <a:endParaRPr lang="en-US" sz="2100" dirty="0"/>
          </a:p>
        </p:txBody>
      </p:sp>
      <p:pic>
        <p:nvPicPr>
          <p:cNvPr id="4" name="Picture 7" descr="__type_image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52476" y="1095433"/>
            <a:ext cx="10286743" cy="28574"/>
          </a:xfrm>
          <a:prstGeom prst="rect">
            <a:avLst/>
          </a:prstGeom>
        </p:spPr>
      </p:pic>
      <p:sp>
        <p:nvSpPr>
          <p:cNvPr id="5" name="TextBox 9"/>
          <p:cNvSpPr/>
          <p:nvPr/>
        </p:nvSpPr>
        <p:spPr>
          <a:xfrm>
            <a:off x="952476" y="1314503"/>
            <a:ext cx="10286743" cy="24383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35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在AI时代来临之前，我一直使用Marp工具来生成我的PPT，这份模板的灵感也是来自于Awesome Marp（https://github.com/favourhong/Awesome-Marp）的开源项目，这份模板一直是我用起来最顺手的。但是Marp并不适合于所有人，上手有一定的门槛。</a:t>
            </a:r>
            <a:endParaRPr lang="en-US" sz="1350" dirty="0"/>
          </a:p>
          <a:p>
            <a:pPr algn="l" indent="0" marL="0">
              <a:buNone/>
            </a:pPr>
            <a:endParaRPr lang="en-US" sz="135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35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AI改变了一切。Pencil是一个由AI驱动的画布工具，且AI生成的每一个元素都是支持交互更改的，它几乎弥补了Marp所有的缺点。于是我将Awesome Marp模板导入其中，让AI提取设计语言并生成，效果很好，也添加了原有模板不具备的功能，比如代码高亮和流程图。</a:t>
            </a:r>
            <a:endParaRPr lang="en-US" sz="1350" dirty="0"/>
          </a:p>
          <a:p>
            <a:pPr algn="l" indent="0" marL="0">
              <a:buNone/>
            </a:pPr>
            <a:endParaRPr lang="en-US" sz="135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35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基于这份模板，您可以很方便地打造自己的PPT。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3"/>
          <p:cNvSpPr/>
          <p:nvPr/>
        </p:nvSpPr>
        <p:spPr>
          <a:xfrm>
            <a:off x="0" y="86"/>
            <a:ext cx="12191695" cy="685782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Box 7"/>
          <p:cNvSpPr/>
          <p:nvPr/>
        </p:nvSpPr>
        <p:spPr>
          <a:xfrm>
            <a:off x="761981" y="571571"/>
            <a:ext cx="2123575" cy="3333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33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 正文 (双栏布局)</a:t>
            </a:r>
            <a:endParaRPr lang="en-US" sz="2100" dirty="0"/>
          </a:p>
        </p:txBody>
      </p:sp>
      <p:pic>
        <p:nvPicPr>
          <p:cNvPr id="4" name="Picture 9" descr="__type_image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61981" y="1019235"/>
            <a:ext cx="10667733" cy="28574"/>
          </a:xfrm>
          <a:prstGeom prst="rect">
            <a:avLst/>
          </a:prstGeom>
        </p:spPr>
      </p:pic>
      <p:sp>
        <p:nvSpPr>
          <p:cNvPr id="5" name="TextBox 16"/>
          <p:cNvSpPr/>
          <p:nvPr/>
        </p:nvSpPr>
        <p:spPr>
          <a:xfrm>
            <a:off x="761981" y="1276404"/>
            <a:ext cx="5143371" cy="4952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曲曲折折的荷塘上面，弥望的是田田的叶子。叶子出水很高，像亭亭的舞女的裙。</a:t>
            </a:r>
            <a:endParaRPr lang="en-US" sz="1200" dirty="0"/>
          </a:p>
        </p:txBody>
      </p:sp>
      <p:sp>
        <p:nvSpPr>
          <p:cNvPr id="6" name="TextBox 18"/>
          <p:cNvSpPr/>
          <p:nvPr/>
        </p:nvSpPr>
        <p:spPr>
          <a:xfrm>
            <a:off x="761981" y="1924088"/>
            <a:ext cx="5143371" cy="4952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层层的叶子中间，零星地点缀着些白花，有袅娜地开着的，有羞涩地打着朵儿的；正如一粒粒的明珠，又如碧天里的星星，又如刚出浴的美人。</a:t>
            </a:r>
            <a:endParaRPr lang="en-US" sz="1200" dirty="0"/>
          </a:p>
        </p:txBody>
      </p:sp>
      <p:sp>
        <p:nvSpPr>
          <p:cNvPr id="7" name="TextBox 20"/>
          <p:cNvSpPr/>
          <p:nvPr/>
        </p:nvSpPr>
        <p:spPr>
          <a:xfrm>
            <a:off x="761981" y="2571771"/>
            <a:ext cx="5143371" cy="4952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微风过处，送来缕缕清香，仿佛远处高楼上渺茫的歌声似的。这时候叶子与花也有一丝的颤动，像闪电般，霎时传过荷塘的那边去了。</a:t>
            </a:r>
            <a:endParaRPr lang="en-US" sz="1200" dirty="0"/>
          </a:p>
        </p:txBody>
      </p:sp>
      <p:sp>
        <p:nvSpPr>
          <p:cNvPr id="8" name="TextBox 22"/>
          <p:cNvSpPr/>
          <p:nvPr/>
        </p:nvSpPr>
        <p:spPr>
          <a:xfrm>
            <a:off x="761981" y="3219455"/>
            <a:ext cx="5143371" cy="4952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叶子本是肩并肩密密地挨着，这便宛然有了一道凝碧的波痕。叶子底下是脉脉的流水，遮住了，不能见一些颜色；而叶子却更见风致了。</a:t>
            </a:r>
            <a:endParaRPr lang="en-US" sz="1200" dirty="0"/>
          </a:p>
        </p:txBody>
      </p:sp>
      <p:sp>
        <p:nvSpPr>
          <p:cNvPr id="9" name="TextBox 24"/>
          <p:cNvSpPr/>
          <p:nvPr/>
        </p:nvSpPr>
        <p:spPr>
          <a:xfrm>
            <a:off x="761981" y="3867139"/>
            <a:ext cx="2120748" cy="18097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—— 朱自清《荷塘月色》 返回 ↗</a:t>
            </a:r>
            <a:endParaRPr lang="en-US" sz="1125" dirty="0"/>
          </a:p>
        </p:txBody>
      </p:sp>
      <p:pic>
        <p:nvPicPr>
          <p:cNvPr id="10" name="Picture 29" descr="__type_imag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343" y="1276404"/>
            <a:ext cx="5143371" cy="52005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3"/>
          <p:cNvSpPr/>
          <p:nvPr/>
        </p:nvSpPr>
        <p:spPr>
          <a:xfrm>
            <a:off x="0" y="86"/>
            <a:ext cx="12191695" cy="685782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Box 7"/>
          <p:cNvSpPr/>
          <p:nvPr/>
        </p:nvSpPr>
        <p:spPr>
          <a:xfrm>
            <a:off x="761981" y="571571"/>
            <a:ext cx="2176557" cy="3333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33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 正文 (品字布局)</a:t>
            </a:r>
            <a:endParaRPr lang="en-US" sz="2100" dirty="0"/>
          </a:p>
        </p:txBody>
      </p:sp>
      <p:pic>
        <p:nvPicPr>
          <p:cNvPr id="4" name="Picture 9" descr="__type_image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61981" y="1019235"/>
            <a:ext cx="10667733" cy="28574"/>
          </a:xfrm>
          <a:prstGeom prst="rect">
            <a:avLst/>
          </a:prstGeom>
        </p:spPr>
      </p:pic>
      <p:sp>
        <p:nvSpPr>
          <p:cNvPr id="5" name="Shape 14"/>
          <p:cNvSpPr/>
          <p:nvPr/>
        </p:nvSpPr>
        <p:spPr>
          <a:xfrm>
            <a:off x="761981" y="1276404"/>
            <a:ext cx="38099" cy="1219170"/>
          </a:xfrm>
          <a:prstGeom prst="rect">
            <a:avLst/>
          </a:prstGeom>
          <a:solidFill>
            <a:srgbClr val="339999"/>
          </a:solidFill>
          <a:ln/>
        </p:spPr>
      </p:sp>
      <p:sp>
        <p:nvSpPr>
          <p:cNvPr id="6" name="TextBox 18"/>
          <p:cNvSpPr/>
          <p:nvPr/>
        </p:nvSpPr>
        <p:spPr>
          <a:xfrm>
            <a:off x="1028674" y="1428800"/>
            <a:ext cx="10172446" cy="914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125" dirty="0">
                <a:solidFill>
                  <a:srgbClr val="4444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四百年前，两位截然不同的科学家突破了当时已知世界的边界。1609年在威尼斯，伽利略·伽利雷透过望远镜观察星辰，并制作仪器和进行实验。在布拉格，科班出身的神学家约翰内斯·开普勒发现了行星运动定律，奠定了近代天体物理学的基础，并思考着宇宙的宏伟构造。托马斯·德·帕多瓦以至今较少受到关注却扣人心弦的通信往来为基础，讲述了这两位类型如此迥异的学者之间不对等的关系，以及他们如何在同样的时刻却以各自的方式探索星辰的奥秘。在彼此的鉴照下，他们的远见与固执、睿智与无知得以呈现。这是一部介绍新科学的崛起以及近代来临之际的巨大变革的作品。 ——《宇宙的奥秘》</a:t>
            </a:r>
            <a:endParaRPr lang="en-US" sz="1125" dirty="0"/>
          </a:p>
        </p:txBody>
      </p:sp>
      <p:pic>
        <p:nvPicPr>
          <p:cNvPr id="7" name="Picture 24" descr="__type_imag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1" y="2724168"/>
            <a:ext cx="5219570" cy="3752756"/>
          </a:xfrm>
          <a:prstGeom prst="rect">
            <a:avLst/>
          </a:prstGeom>
        </p:spPr>
      </p:pic>
      <p:pic>
        <p:nvPicPr>
          <p:cNvPr id="8" name="Picture 26" descr="__type_imag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0145" y="2724168"/>
            <a:ext cx="5219570" cy="375275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3"/>
          <p:cNvSpPr/>
          <p:nvPr/>
        </p:nvSpPr>
        <p:spPr>
          <a:xfrm>
            <a:off x="0" y="86"/>
            <a:ext cx="12191695" cy="685782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Box 7"/>
          <p:cNvSpPr/>
          <p:nvPr/>
        </p:nvSpPr>
        <p:spPr>
          <a:xfrm>
            <a:off x="761981" y="571571"/>
            <a:ext cx="1377519" cy="3333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33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 引用盒子</a:t>
            </a:r>
            <a:endParaRPr lang="en-US" sz="2100" dirty="0"/>
          </a:p>
        </p:txBody>
      </p:sp>
      <p:pic>
        <p:nvPicPr>
          <p:cNvPr id="4" name="Picture 9" descr="__type_image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61981" y="1019235"/>
            <a:ext cx="10667733" cy="28574"/>
          </a:xfrm>
          <a:prstGeom prst="rect">
            <a:avLst/>
          </a:prstGeom>
        </p:spPr>
      </p:pic>
      <p:sp>
        <p:nvSpPr>
          <p:cNvPr id="5" name="Shape 12"/>
          <p:cNvSpPr/>
          <p:nvPr/>
        </p:nvSpPr>
        <p:spPr>
          <a:xfrm>
            <a:off x="761981" y="1276404"/>
            <a:ext cx="10667733" cy="1752556"/>
          </a:xfrm>
          <a:prstGeom prst="roundRect">
            <a:avLst>
              <a:gd name="adj" fmla="val 2174"/>
            </a:avLst>
          </a:prstGeom>
          <a:solidFill>
            <a:srgbClr val="F5F5F0"/>
          </a:solidFill>
          <a:ln/>
        </p:spPr>
      </p:sp>
      <p:sp>
        <p:nvSpPr>
          <p:cNvPr id="6" name="Shape 14"/>
          <p:cNvSpPr/>
          <p:nvPr/>
        </p:nvSpPr>
        <p:spPr>
          <a:xfrm>
            <a:off x="761981" y="1276404"/>
            <a:ext cx="10667733" cy="419090"/>
          </a:xfrm>
          <a:prstGeom prst="rect">
            <a:avLst/>
          </a:prstGeom>
          <a:solidFill>
            <a:srgbClr val="90C695"/>
          </a:solidFill>
          <a:ln/>
        </p:spPr>
      </p:sp>
      <p:pic>
        <p:nvPicPr>
          <p:cNvPr id="7" name="Picture 16" descr="__type_imag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377" y="1400226"/>
            <a:ext cx="171446" cy="171446"/>
          </a:xfrm>
          <a:prstGeom prst="rect">
            <a:avLst/>
          </a:prstGeom>
        </p:spPr>
      </p:pic>
      <p:sp>
        <p:nvSpPr>
          <p:cNvPr id="8" name="TextBox 18"/>
          <p:cNvSpPr/>
          <p:nvPr/>
        </p:nvSpPr>
        <p:spPr>
          <a:xfrm>
            <a:off x="1181070" y="1385939"/>
            <a:ext cx="3000151" cy="2000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7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合成控制法 (Synthetic Control Method)</a:t>
            </a:r>
            <a:endParaRPr lang="en-US" sz="1275" dirty="0"/>
          </a:p>
        </p:txBody>
      </p:sp>
      <p:sp>
        <p:nvSpPr>
          <p:cNvPr id="9" name="TextBox 23"/>
          <p:cNvSpPr/>
          <p:nvPr/>
        </p:nvSpPr>
        <p:spPr>
          <a:xfrm>
            <a:off x="914377" y="1847890"/>
            <a:ext cx="10362941" cy="4571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125" dirty="0">
                <a:solidFill>
                  <a:srgbClr val="4444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SCM 最早由 Abadie and Gardeazabal (2003) 提出，用来研究西班牙巴斯克地区恐怖活动的经济成本，属于案例研究范畴 (Case Study)。Athey &amp; Imbens (2017) 认为它是过去 15 年计量方法领域最重要的创新。</a:t>
            </a:r>
            <a:endParaRPr lang="en-US" sz="1125" dirty="0"/>
          </a:p>
        </p:txBody>
      </p:sp>
      <p:sp>
        <p:nvSpPr>
          <p:cNvPr id="10" name="TextBox 25"/>
          <p:cNvSpPr/>
          <p:nvPr/>
        </p:nvSpPr>
        <p:spPr>
          <a:xfrm>
            <a:off x="914377" y="2419375"/>
            <a:ext cx="10362941" cy="4571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125" dirty="0">
                <a:solidFill>
                  <a:srgbClr val="4444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合成控制法的基本思想是：虽然无法找到巴斯克地区的最佳控制地区，但可对西班牙的若干大城市进行适当的线性组合（赋予不同的权重），以构造一个更为贴切的「合成控制地区」(Synthetic Control Region)，然后将真实的巴斯克地区与「合成的巴斯克地区」进行对比，即可得到恐袭的影响。</a:t>
            </a:r>
            <a:endParaRPr lang="en-US" sz="112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3"/>
          <p:cNvSpPr/>
          <p:nvPr/>
        </p:nvSpPr>
        <p:spPr>
          <a:xfrm>
            <a:off x="0" y="86"/>
            <a:ext cx="12191695" cy="685782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Box 7"/>
          <p:cNvSpPr/>
          <p:nvPr/>
        </p:nvSpPr>
        <p:spPr>
          <a:xfrm>
            <a:off x="761981" y="571571"/>
            <a:ext cx="1648974" cy="3333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33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4. 代码块高亮</a:t>
            </a:r>
            <a:endParaRPr lang="en-US" sz="2100" dirty="0"/>
          </a:p>
        </p:txBody>
      </p:sp>
      <p:pic>
        <p:nvPicPr>
          <p:cNvPr id="4" name="Picture 9" descr="__type_image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61981" y="1019235"/>
            <a:ext cx="10667733" cy="28574"/>
          </a:xfrm>
          <a:prstGeom prst="rect">
            <a:avLst/>
          </a:prstGeom>
        </p:spPr>
      </p:pic>
      <p:sp>
        <p:nvSpPr>
          <p:cNvPr id="5" name="TextBox 12"/>
          <p:cNvSpPr/>
          <p:nvPr/>
        </p:nvSpPr>
        <p:spPr>
          <a:xfrm>
            <a:off x="761981" y="1276404"/>
            <a:ext cx="4048024" cy="2000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75" dirty="0">
                <a:solidFill>
                  <a:srgbClr val="4444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支持多种编程语言的语法高亮显示，让代码更具可读性。</a:t>
            </a:r>
            <a:endParaRPr lang="en-US" sz="1275" dirty="0"/>
          </a:p>
        </p:txBody>
      </p:sp>
      <p:sp>
        <p:nvSpPr>
          <p:cNvPr id="6" name="Shape 14"/>
          <p:cNvSpPr/>
          <p:nvPr/>
        </p:nvSpPr>
        <p:spPr>
          <a:xfrm>
            <a:off x="761981" y="1705018"/>
            <a:ext cx="10667733" cy="4771906"/>
          </a:xfrm>
          <a:prstGeom prst="roundRect">
            <a:avLst>
              <a:gd name="adj" fmla="val 1597"/>
            </a:avLst>
          </a:prstGeom>
          <a:solidFill>
            <a:srgbClr val="1E1E2E"/>
          </a:solidFill>
          <a:ln/>
        </p:spPr>
      </p:sp>
      <p:sp>
        <p:nvSpPr>
          <p:cNvPr id="7" name="TextBox 16"/>
          <p:cNvSpPr/>
          <p:nvPr/>
        </p:nvSpPr>
        <p:spPr>
          <a:xfrm>
            <a:off x="990575" y="1895513"/>
            <a:ext cx="445878" cy="14287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66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</a:t>
            </a:r>
            <a:endParaRPr lang="en-US" sz="975" dirty="0"/>
          </a:p>
        </p:txBody>
      </p:sp>
      <p:sp>
        <p:nvSpPr>
          <p:cNvPr id="8" name="TextBox 18"/>
          <p:cNvSpPr/>
          <p:nvPr/>
        </p:nvSpPr>
        <p:spPr>
          <a:xfrm>
            <a:off x="990575" y="2152682"/>
            <a:ext cx="1543309" cy="16192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hello_world():</a:t>
            </a:r>
            <a:endParaRPr lang="en-US" sz="1125" dirty="0"/>
          </a:p>
        </p:txBody>
      </p:sp>
      <p:sp>
        <p:nvSpPr>
          <p:cNvPr id="9" name="TextBox 20"/>
          <p:cNvSpPr/>
          <p:nvPr/>
        </p:nvSpPr>
        <p:spPr>
          <a:xfrm>
            <a:off x="990575" y="2428900"/>
            <a:ext cx="1228843" cy="1904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6C70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"""打印问候语"""</a:t>
            </a:r>
            <a:endParaRPr lang="en-US" sz="1125" dirty="0"/>
          </a:p>
        </p:txBody>
      </p:sp>
      <p:sp>
        <p:nvSpPr>
          <p:cNvPr id="10" name="TextBox 22"/>
          <p:cNvSpPr/>
          <p:nvPr/>
        </p:nvSpPr>
        <p:spPr>
          <a:xfrm>
            <a:off x="990575" y="2733692"/>
            <a:ext cx="1114695" cy="16192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F5E0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 = "Marp"</a:t>
            </a:r>
            <a:endParaRPr lang="en-US" sz="1125" dirty="0"/>
          </a:p>
        </p:txBody>
      </p:sp>
      <p:sp>
        <p:nvSpPr>
          <p:cNvPr id="11" name="TextBox 24"/>
          <p:cNvSpPr/>
          <p:nvPr/>
        </p:nvSpPr>
        <p:spPr>
          <a:xfrm>
            <a:off x="990575" y="3009910"/>
            <a:ext cx="2057795" cy="16192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F5E0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print(f"Hello, {name}!")</a:t>
            </a:r>
            <a:endParaRPr lang="en-US" sz="1125" dirty="0"/>
          </a:p>
        </p:txBody>
      </p:sp>
      <p:sp>
        <p:nvSpPr>
          <p:cNvPr id="12" name="TextBox 26"/>
          <p:cNvSpPr/>
          <p:nvPr/>
        </p:nvSpPr>
        <p:spPr>
          <a:xfrm>
            <a:off x="990575" y="3286129"/>
            <a:ext cx="943249" cy="16192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F5E0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True</a:t>
            </a:r>
            <a:endParaRPr lang="en-US" sz="1125" dirty="0"/>
          </a:p>
        </p:txBody>
      </p:sp>
      <p:sp>
        <p:nvSpPr>
          <p:cNvPr id="13" name="TextBox 30"/>
          <p:cNvSpPr/>
          <p:nvPr/>
        </p:nvSpPr>
        <p:spPr>
          <a:xfrm>
            <a:off x="990575" y="3676644"/>
            <a:ext cx="2229241" cy="16192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__name__ == "__main__":</a:t>
            </a:r>
            <a:endParaRPr lang="en-US" sz="1125" dirty="0"/>
          </a:p>
        </p:txBody>
      </p:sp>
      <p:sp>
        <p:nvSpPr>
          <p:cNvPr id="14" name="TextBox 32"/>
          <p:cNvSpPr/>
          <p:nvPr/>
        </p:nvSpPr>
        <p:spPr>
          <a:xfrm>
            <a:off x="990575" y="3952862"/>
            <a:ext cx="1114695" cy="16192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89DC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hello_world()</a:t>
            </a:r>
            <a:endParaRPr lang="en-US" sz="112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3"/>
          <p:cNvSpPr/>
          <p:nvPr/>
        </p:nvSpPr>
        <p:spPr>
          <a:xfrm>
            <a:off x="0" y="86"/>
            <a:ext cx="12191695" cy="685782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Box 7"/>
          <p:cNvSpPr/>
          <p:nvPr/>
        </p:nvSpPr>
        <p:spPr>
          <a:xfrm>
            <a:off x="761981" y="571571"/>
            <a:ext cx="1637366" cy="3333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33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5. 流程图示例</a:t>
            </a:r>
            <a:endParaRPr lang="en-US" sz="2100" dirty="0"/>
          </a:p>
        </p:txBody>
      </p:sp>
      <p:pic>
        <p:nvPicPr>
          <p:cNvPr id="4" name="Picture 9" descr="__type_image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61981" y="1019235"/>
            <a:ext cx="10667733" cy="28574"/>
          </a:xfrm>
          <a:prstGeom prst="rect">
            <a:avLst/>
          </a:prstGeom>
        </p:spPr>
      </p:pic>
      <p:sp>
        <p:nvSpPr>
          <p:cNvPr id="5" name="TextBox 12"/>
          <p:cNvSpPr/>
          <p:nvPr/>
        </p:nvSpPr>
        <p:spPr>
          <a:xfrm>
            <a:off x="761981" y="1276404"/>
            <a:ext cx="3886103" cy="2000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75" dirty="0">
                <a:solidFill>
                  <a:srgbClr val="4444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使用简洁的流程图展示工作流或算法步骤，直观清晰。</a:t>
            </a:r>
            <a:endParaRPr lang="en-US" sz="1275" dirty="0"/>
          </a:p>
        </p:txBody>
      </p:sp>
      <p:sp>
        <p:nvSpPr>
          <p:cNvPr id="6" name="Shape 16"/>
          <p:cNvSpPr/>
          <p:nvPr/>
        </p:nvSpPr>
        <p:spPr>
          <a:xfrm>
            <a:off x="876278" y="3233742"/>
            <a:ext cx="2095448" cy="1523962"/>
          </a:xfrm>
          <a:prstGeom prst="roundRect">
            <a:avLst>
              <a:gd name="adj" fmla="val 7500"/>
            </a:avLst>
          </a:prstGeom>
          <a:solidFill>
            <a:srgbClr val="F0F9F9"/>
          </a:solidFill>
          <a:ln/>
        </p:spPr>
      </p:sp>
      <p:pic>
        <p:nvPicPr>
          <p:cNvPr id="7" name="Picture 18" descr="__type_imag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2556" y="3538535"/>
            <a:ext cx="342891" cy="342891"/>
          </a:xfrm>
          <a:prstGeom prst="rect">
            <a:avLst/>
          </a:prstGeom>
        </p:spPr>
      </p:pic>
      <p:sp>
        <p:nvSpPr>
          <p:cNvPr id="8" name="TextBox 20"/>
          <p:cNvSpPr/>
          <p:nvPr/>
        </p:nvSpPr>
        <p:spPr>
          <a:xfrm>
            <a:off x="1619210" y="3995723"/>
            <a:ext cx="609585" cy="1904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数据采集</a:t>
            </a:r>
            <a:endParaRPr lang="en-US" sz="1200" dirty="0"/>
          </a:p>
        </p:txBody>
      </p:sp>
      <p:sp>
        <p:nvSpPr>
          <p:cNvPr id="9" name="TextBox 22"/>
          <p:cNvSpPr/>
          <p:nvPr/>
        </p:nvSpPr>
        <p:spPr>
          <a:xfrm>
            <a:off x="1552536" y="4300516"/>
            <a:ext cx="742931" cy="15239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8888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收集原始数据</a:t>
            </a:r>
            <a:endParaRPr lang="en-US" sz="975" dirty="0"/>
          </a:p>
        </p:txBody>
      </p:sp>
      <p:sp>
        <p:nvSpPr>
          <p:cNvPr id="10" name="TextBox 25"/>
          <p:cNvSpPr/>
          <p:nvPr/>
        </p:nvSpPr>
        <p:spPr>
          <a:xfrm>
            <a:off x="3162221" y="3800466"/>
            <a:ext cx="304792" cy="39051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33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2400" dirty="0"/>
          </a:p>
        </p:txBody>
      </p:sp>
      <p:sp>
        <p:nvSpPr>
          <p:cNvPr id="11" name="Shape 27"/>
          <p:cNvSpPr/>
          <p:nvPr/>
        </p:nvSpPr>
        <p:spPr>
          <a:xfrm>
            <a:off x="3657509" y="3233742"/>
            <a:ext cx="2095448" cy="1523962"/>
          </a:xfrm>
          <a:prstGeom prst="roundRect">
            <a:avLst>
              <a:gd name="adj" fmla="val 7500"/>
            </a:avLst>
          </a:prstGeom>
          <a:solidFill>
            <a:srgbClr val="F0F9F9"/>
          </a:solidFill>
          <a:ln/>
        </p:spPr>
      </p:sp>
      <p:pic>
        <p:nvPicPr>
          <p:cNvPr id="12" name="Picture 29" descr="__type_imag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33787" y="3538535"/>
            <a:ext cx="342891" cy="342891"/>
          </a:xfrm>
          <a:prstGeom prst="rect">
            <a:avLst/>
          </a:prstGeom>
        </p:spPr>
      </p:pic>
      <p:sp>
        <p:nvSpPr>
          <p:cNvPr id="13" name="TextBox 31"/>
          <p:cNvSpPr/>
          <p:nvPr/>
        </p:nvSpPr>
        <p:spPr>
          <a:xfrm>
            <a:off x="4400440" y="3995723"/>
            <a:ext cx="609585" cy="1904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数据清洗</a:t>
            </a:r>
            <a:endParaRPr lang="en-US" sz="1200" dirty="0"/>
          </a:p>
        </p:txBody>
      </p:sp>
      <p:sp>
        <p:nvSpPr>
          <p:cNvPr id="14" name="TextBox 33"/>
          <p:cNvSpPr/>
          <p:nvPr/>
        </p:nvSpPr>
        <p:spPr>
          <a:xfrm>
            <a:off x="4209945" y="4300516"/>
            <a:ext cx="990575" cy="15239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8888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处理缺失值与异常</a:t>
            </a:r>
            <a:endParaRPr lang="en-US" sz="975" dirty="0"/>
          </a:p>
        </p:txBody>
      </p:sp>
      <p:sp>
        <p:nvSpPr>
          <p:cNvPr id="15" name="TextBox 36"/>
          <p:cNvSpPr/>
          <p:nvPr/>
        </p:nvSpPr>
        <p:spPr>
          <a:xfrm>
            <a:off x="5943451" y="3800466"/>
            <a:ext cx="304792" cy="39051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33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2400" dirty="0"/>
          </a:p>
        </p:txBody>
      </p:sp>
      <p:sp>
        <p:nvSpPr>
          <p:cNvPr id="16" name="Shape 38"/>
          <p:cNvSpPr/>
          <p:nvPr/>
        </p:nvSpPr>
        <p:spPr>
          <a:xfrm>
            <a:off x="6438739" y="3233742"/>
            <a:ext cx="2095448" cy="1523962"/>
          </a:xfrm>
          <a:prstGeom prst="roundRect">
            <a:avLst>
              <a:gd name="adj" fmla="val 7500"/>
            </a:avLst>
          </a:prstGeom>
          <a:solidFill>
            <a:srgbClr val="F0F9F9"/>
          </a:solidFill>
          <a:ln/>
        </p:spPr>
      </p:sp>
      <p:pic>
        <p:nvPicPr>
          <p:cNvPr id="17" name="Picture 40" descr="__type_image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017" y="3538535"/>
            <a:ext cx="342891" cy="342891"/>
          </a:xfrm>
          <a:prstGeom prst="rect">
            <a:avLst/>
          </a:prstGeom>
        </p:spPr>
      </p:pic>
      <p:sp>
        <p:nvSpPr>
          <p:cNvPr id="18" name="TextBox 42"/>
          <p:cNvSpPr/>
          <p:nvPr/>
        </p:nvSpPr>
        <p:spPr>
          <a:xfrm>
            <a:off x="7181670" y="3995723"/>
            <a:ext cx="609585" cy="1904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模型训练</a:t>
            </a:r>
            <a:endParaRPr lang="en-US" sz="1200" dirty="0"/>
          </a:p>
        </p:txBody>
      </p:sp>
      <p:sp>
        <p:nvSpPr>
          <p:cNvPr id="19" name="TextBox 44"/>
          <p:cNvSpPr/>
          <p:nvPr/>
        </p:nvSpPr>
        <p:spPr>
          <a:xfrm>
            <a:off x="7114997" y="4300516"/>
            <a:ext cx="742931" cy="15239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8888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构建预测模型</a:t>
            </a:r>
            <a:endParaRPr lang="en-US" sz="975" dirty="0"/>
          </a:p>
        </p:txBody>
      </p:sp>
      <p:sp>
        <p:nvSpPr>
          <p:cNvPr id="20" name="TextBox 47"/>
          <p:cNvSpPr/>
          <p:nvPr/>
        </p:nvSpPr>
        <p:spPr>
          <a:xfrm>
            <a:off x="8724682" y="3800466"/>
            <a:ext cx="304792" cy="39051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33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2400" dirty="0"/>
          </a:p>
        </p:txBody>
      </p:sp>
      <p:sp>
        <p:nvSpPr>
          <p:cNvPr id="21" name="Shape 49"/>
          <p:cNvSpPr/>
          <p:nvPr/>
        </p:nvSpPr>
        <p:spPr>
          <a:xfrm>
            <a:off x="9219969" y="3233742"/>
            <a:ext cx="2095448" cy="1523962"/>
          </a:xfrm>
          <a:prstGeom prst="roundRect">
            <a:avLst>
              <a:gd name="adj" fmla="val 7500"/>
            </a:avLst>
          </a:prstGeom>
          <a:solidFill>
            <a:srgbClr val="339999"/>
          </a:solidFill>
          <a:ln/>
        </p:spPr>
      </p:sp>
      <p:pic>
        <p:nvPicPr>
          <p:cNvPr id="22" name="Picture 51" descr="__type_image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96248" y="3538535"/>
            <a:ext cx="342891" cy="342891"/>
          </a:xfrm>
          <a:prstGeom prst="rect">
            <a:avLst/>
          </a:prstGeom>
        </p:spPr>
      </p:pic>
      <p:sp>
        <p:nvSpPr>
          <p:cNvPr id="23" name="TextBox 53"/>
          <p:cNvSpPr/>
          <p:nvPr/>
        </p:nvSpPr>
        <p:spPr>
          <a:xfrm>
            <a:off x="9962901" y="3995723"/>
            <a:ext cx="609585" cy="1904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结果评估</a:t>
            </a:r>
            <a:endParaRPr lang="en-US" sz="1200" dirty="0"/>
          </a:p>
        </p:txBody>
      </p:sp>
      <p:sp>
        <p:nvSpPr>
          <p:cNvPr id="24" name="TextBox 55"/>
          <p:cNvSpPr/>
          <p:nvPr/>
        </p:nvSpPr>
        <p:spPr>
          <a:xfrm>
            <a:off x="9896228" y="4300516"/>
            <a:ext cx="742931" cy="15239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E0F5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验证模型效果</a:t>
            </a:r>
            <a:endParaRPr lang="en-US" sz="97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3"/>
          <p:cNvSpPr/>
          <p:nvPr/>
        </p:nvSpPr>
        <p:spPr>
          <a:xfrm>
            <a:off x="0" y="86"/>
            <a:ext cx="12191695" cy="685782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Box 7"/>
          <p:cNvSpPr/>
          <p:nvPr/>
        </p:nvSpPr>
        <p:spPr>
          <a:xfrm>
            <a:off x="761981" y="571571"/>
            <a:ext cx="1376179" cy="3333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33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6. 图表示例</a:t>
            </a:r>
            <a:endParaRPr lang="en-US" sz="2100" dirty="0"/>
          </a:p>
        </p:txBody>
      </p:sp>
      <p:pic>
        <p:nvPicPr>
          <p:cNvPr id="4" name="Picture 9" descr="__type_image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61981" y="1019235"/>
            <a:ext cx="10667733" cy="28574"/>
          </a:xfrm>
          <a:prstGeom prst="rect">
            <a:avLst/>
          </a:prstGeom>
        </p:spPr>
      </p:pic>
      <p:sp>
        <p:nvSpPr>
          <p:cNvPr id="5" name="TextBox 12"/>
          <p:cNvSpPr/>
          <p:nvPr/>
        </p:nvSpPr>
        <p:spPr>
          <a:xfrm>
            <a:off x="761981" y="1276404"/>
            <a:ext cx="3886103" cy="2000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75" dirty="0">
                <a:solidFill>
                  <a:srgbClr val="4444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下表对比了几种常见的计量经济学方法及其应用场景。</a:t>
            </a:r>
            <a:endParaRPr lang="en-US" sz="1275" dirty="0"/>
          </a:p>
        </p:txBody>
      </p:sp>
      <p:sp>
        <p:nvSpPr>
          <p:cNvPr id="6" name="Shape 14"/>
          <p:cNvSpPr/>
          <p:nvPr/>
        </p:nvSpPr>
        <p:spPr>
          <a:xfrm>
            <a:off x="761981" y="1705018"/>
            <a:ext cx="10667733" cy="2476438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/>
        </p:spPr>
      </p:sp>
      <p:sp>
        <p:nvSpPr>
          <p:cNvPr id="7" name="Shape 16"/>
          <p:cNvSpPr/>
          <p:nvPr/>
        </p:nvSpPr>
        <p:spPr>
          <a:xfrm>
            <a:off x="761981" y="1705018"/>
            <a:ext cx="10667733" cy="457189"/>
          </a:xfrm>
          <a:prstGeom prst="rect">
            <a:avLst/>
          </a:prstGeom>
          <a:solidFill>
            <a:srgbClr val="339999"/>
          </a:solidFill>
          <a:ln/>
        </p:spPr>
      </p:sp>
      <p:sp>
        <p:nvSpPr>
          <p:cNvPr id="8" name="TextBox 20"/>
          <p:cNvSpPr/>
          <p:nvPr/>
        </p:nvSpPr>
        <p:spPr>
          <a:xfrm>
            <a:off x="1428714" y="1833602"/>
            <a:ext cx="571486" cy="2000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方法名称</a:t>
            </a:r>
            <a:endParaRPr lang="en-US" sz="1125" dirty="0"/>
          </a:p>
        </p:txBody>
      </p:sp>
      <p:sp>
        <p:nvSpPr>
          <p:cNvPr id="9" name="TextBox 25"/>
          <p:cNvSpPr/>
          <p:nvPr/>
        </p:nvSpPr>
        <p:spPr>
          <a:xfrm>
            <a:off x="3500350" y="1833602"/>
            <a:ext cx="428614" cy="2000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提出者</a:t>
            </a:r>
            <a:endParaRPr lang="en-US" sz="1125" dirty="0"/>
          </a:p>
        </p:txBody>
      </p:sp>
      <p:sp>
        <p:nvSpPr>
          <p:cNvPr id="10" name="TextBox 30"/>
          <p:cNvSpPr/>
          <p:nvPr/>
        </p:nvSpPr>
        <p:spPr>
          <a:xfrm>
            <a:off x="5810105" y="1833602"/>
            <a:ext cx="571486" cy="2000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应用领域</a:t>
            </a:r>
            <a:endParaRPr lang="en-US" sz="1125" dirty="0"/>
          </a:p>
        </p:txBody>
      </p:sp>
      <p:sp>
        <p:nvSpPr>
          <p:cNvPr id="11" name="TextBox 35"/>
          <p:cNvSpPr/>
          <p:nvPr/>
        </p:nvSpPr>
        <p:spPr>
          <a:xfrm>
            <a:off x="9143771" y="1833602"/>
            <a:ext cx="571486" cy="2000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核心特点</a:t>
            </a:r>
            <a:endParaRPr lang="en-US" sz="1125" dirty="0"/>
          </a:p>
        </p:txBody>
      </p:sp>
      <p:sp>
        <p:nvSpPr>
          <p:cNvPr id="12" name="Shape 39"/>
          <p:cNvSpPr/>
          <p:nvPr/>
        </p:nvSpPr>
        <p:spPr>
          <a:xfrm>
            <a:off x="761981" y="2162207"/>
            <a:ext cx="10667733" cy="4952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TextBox 43"/>
          <p:cNvSpPr/>
          <p:nvPr/>
        </p:nvSpPr>
        <p:spPr>
          <a:xfrm>
            <a:off x="1381090" y="2314603"/>
            <a:ext cx="666733" cy="1904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合成控制法</a:t>
            </a:r>
            <a:endParaRPr lang="en-US" sz="1050" dirty="0"/>
          </a:p>
        </p:txBody>
      </p:sp>
      <p:sp>
        <p:nvSpPr>
          <p:cNvPr id="14" name="TextBox 48"/>
          <p:cNvSpPr/>
          <p:nvPr/>
        </p:nvSpPr>
        <p:spPr>
          <a:xfrm>
            <a:off x="3291996" y="2314603"/>
            <a:ext cx="845323" cy="1904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Abadie (2003)</a:t>
            </a:r>
            <a:endParaRPr lang="en-US" sz="1050" dirty="0"/>
          </a:p>
        </p:txBody>
      </p:sp>
      <p:sp>
        <p:nvSpPr>
          <p:cNvPr id="15" name="TextBox 53"/>
          <p:cNvSpPr/>
          <p:nvPr/>
        </p:nvSpPr>
        <p:spPr>
          <a:xfrm>
            <a:off x="5506354" y="2314603"/>
            <a:ext cx="1178838" cy="1904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政策评估 / 案例研究</a:t>
            </a:r>
            <a:endParaRPr lang="en-US" sz="1050" dirty="0"/>
          </a:p>
        </p:txBody>
      </p:sp>
      <p:sp>
        <p:nvSpPr>
          <p:cNvPr id="16" name="TextBox 58"/>
          <p:cNvSpPr/>
          <p:nvPr/>
        </p:nvSpPr>
        <p:spPr>
          <a:xfrm>
            <a:off x="8696108" y="2314603"/>
            <a:ext cx="1466813" cy="1904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构建合成控制组进行对比</a:t>
            </a:r>
            <a:endParaRPr lang="en-US" sz="1050" dirty="0"/>
          </a:p>
        </p:txBody>
      </p:sp>
      <p:sp>
        <p:nvSpPr>
          <p:cNvPr id="17" name="Shape 62"/>
          <p:cNvSpPr/>
          <p:nvPr/>
        </p:nvSpPr>
        <p:spPr>
          <a:xfrm>
            <a:off x="761981" y="2657494"/>
            <a:ext cx="10667733" cy="495288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8" name="TextBox 66"/>
          <p:cNvSpPr/>
          <p:nvPr/>
        </p:nvSpPr>
        <p:spPr>
          <a:xfrm>
            <a:off x="1447764" y="2809890"/>
            <a:ext cx="533387" cy="1904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双重差分</a:t>
            </a:r>
            <a:endParaRPr lang="en-US" sz="1050" dirty="0"/>
          </a:p>
        </p:txBody>
      </p:sp>
      <p:sp>
        <p:nvSpPr>
          <p:cNvPr id="19" name="TextBox 71"/>
          <p:cNvSpPr/>
          <p:nvPr/>
        </p:nvSpPr>
        <p:spPr>
          <a:xfrm>
            <a:off x="3040334" y="2809890"/>
            <a:ext cx="1348498" cy="1904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Card &amp; Krueger (1994)</a:t>
            </a:r>
            <a:endParaRPr lang="en-US" sz="1050" dirty="0"/>
          </a:p>
        </p:txBody>
      </p:sp>
      <p:sp>
        <p:nvSpPr>
          <p:cNvPr id="20" name="TextBox 76"/>
          <p:cNvSpPr/>
          <p:nvPr/>
        </p:nvSpPr>
        <p:spPr>
          <a:xfrm>
            <a:off x="5695808" y="2809890"/>
            <a:ext cx="800080" cy="1904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政策效应评估</a:t>
            </a:r>
            <a:endParaRPr lang="en-US" sz="1050" dirty="0"/>
          </a:p>
        </p:txBody>
      </p:sp>
      <p:sp>
        <p:nvSpPr>
          <p:cNvPr id="21" name="TextBox 81"/>
          <p:cNvSpPr/>
          <p:nvPr/>
        </p:nvSpPr>
        <p:spPr>
          <a:xfrm>
            <a:off x="8629434" y="2809890"/>
            <a:ext cx="1600160" cy="1904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利用处理前后差异估计因果</a:t>
            </a:r>
            <a:endParaRPr lang="en-US" sz="1050" dirty="0"/>
          </a:p>
        </p:txBody>
      </p:sp>
      <p:sp>
        <p:nvSpPr>
          <p:cNvPr id="22" name="Shape 85"/>
          <p:cNvSpPr/>
          <p:nvPr/>
        </p:nvSpPr>
        <p:spPr>
          <a:xfrm>
            <a:off x="761981" y="3152782"/>
            <a:ext cx="10667733" cy="4952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TextBox 89"/>
          <p:cNvSpPr/>
          <p:nvPr/>
        </p:nvSpPr>
        <p:spPr>
          <a:xfrm>
            <a:off x="1447764" y="3305178"/>
            <a:ext cx="533387" cy="1904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工具变量</a:t>
            </a:r>
            <a:endParaRPr lang="en-US" sz="1050" dirty="0"/>
          </a:p>
        </p:txBody>
      </p:sp>
      <p:sp>
        <p:nvSpPr>
          <p:cNvPr id="24" name="TextBox 94"/>
          <p:cNvSpPr/>
          <p:nvPr/>
        </p:nvSpPr>
        <p:spPr>
          <a:xfrm>
            <a:off x="3300628" y="3305178"/>
            <a:ext cx="828059" cy="1904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Wright (1928)</a:t>
            </a:r>
            <a:endParaRPr lang="en-US" sz="1050" dirty="0"/>
          </a:p>
        </p:txBody>
      </p:sp>
      <p:sp>
        <p:nvSpPr>
          <p:cNvPr id="25" name="TextBox 99"/>
          <p:cNvSpPr/>
          <p:nvPr/>
        </p:nvSpPr>
        <p:spPr>
          <a:xfrm>
            <a:off x="5573027" y="3305178"/>
            <a:ext cx="1045491" cy="1904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内生性 / 因果推断</a:t>
            </a:r>
            <a:endParaRPr lang="en-US" sz="1050" dirty="0"/>
          </a:p>
        </p:txBody>
      </p:sp>
      <p:sp>
        <p:nvSpPr>
          <p:cNvPr id="26" name="TextBox 104"/>
          <p:cNvSpPr/>
          <p:nvPr/>
        </p:nvSpPr>
        <p:spPr>
          <a:xfrm>
            <a:off x="8762781" y="3305178"/>
            <a:ext cx="1333467" cy="1904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通过工具分离内生变异</a:t>
            </a:r>
            <a:endParaRPr lang="en-US" sz="1050" dirty="0"/>
          </a:p>
        </p:txBody>
      </p:sp>
      <p:sp>
        <p:nvSpPr>
          <p:cNvPr id="27" name="Shape 108"/>
          <p:cNvSpPr/>
          <p:nvPr/>
        </p:nvSpPr>
        <p:spPr>
          <a:xfrm>
            <a:off x="761981" y="3648070"/>
            <a:ext cx="10667733" cy="495288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28" name="TextBox 112"/>
          <p:cNvSpPr/>
          <p:nvPr/>
        </p:nvSpPr>
        <p:spPr>
          <a:xfrm>
            <a:off x="1447764" y="3800466"/>
            <a:ext cx="533387" cy="1904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断点回归</a:t>
            </a:r>
            <a:endParaRPr lang="en-US" sz="1050" dirty="0"/>
          </a:p>
        </p:txBody>
      </p:sp>
      <p:sp>
        <p:nvSpPr>
          <p:cNvPr id="29" name="TextBox 117"/>
          <p:cNvSpPr/>
          <p:nvPr/>
        </p:nvSpPr>
        <p:spPr>
          <a:xfrm>
            <a:off x="3063402" y="3800466"/>
            <a:ext cx="1302511" cy="1904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Thistlethwaite (1960)</a:t>
            </a:r>
            <a:endParaRPr lang="en-US" sz="1050" dirty="0"/>
          </a:p>
        </p:txBody>
      </p:sp>
      <p:sp>
        <p:nvSpPr>
          <p:cNvPr id="30" name="TextBox 122"/>
          <p:cNvSpPr/>
          <p:nvPr/>
        </p:nvSpPr>
        <p:spPr>
          <a:xfrm>
            <a:off x="5506354" y="3800466"/>
            <a:ext cx="1178838" cy="1904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政策门槛 / 资格限制</a:t>
            </a:r>
            <a:endParaRPr lang="en-US" sz="1050" dirty="0"/>
          </a:p>
        </p:txBody>
      </p:sp>
      <p:sp>
        <p:nvSpPr>
          <p:cNvPr id="31" name="TextBox 127"/>
          <p:cNvSpPr/>
          <p:nvPr/>
        </p:nvSpPr>
        <p:spPr>
          <a:xfrm>
            <a:off x="8762781" y="3800466"/>
            <a:ext cx="1333467" cy="1904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利用断点处局部随机性</a:t>
            </a:r>
            <a:endParaRPr lang="en-US" sz="1050" dirty="0"/>
          </a:p>
        </p:txBody>
      </p:sp>
      <p:sp>
        <p:nvSpPr>
          <p:cNvPr id="32" name="Shape 131"/>
          <p:cNvSpPr/>
          <p:nvPr/>
        </p:nvSpPr>
        <p:spPr>
          <a:xfrm>
            <a:off x="761981" y="4143357"/>
            <a:ext cx="10667733" cy="9525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33" name="Shape 133"/>
          <p:cNvSpPr/>
          <p:nvPr/>
        </p:nvSpPr>
        <p:spPr>
          <a:xfrm>
            <a:off x="761981" y="4152882"/>
            <a:ext cx="10667733" cy="9525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34" name="Shape 135"/>
          <p:cNvSpPr/>
          <p:nvPr/>
        </p:nvSpPr>
        <p:spPr>
          <a:xfrm>
            <a:off x="761981" y="4162407"/>
            <a:ext cx="10667733" cy="9525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35" name="Shape 137"/>
          <p:cNvSpPr/>
          <p:nvPr/>
        </p:nvSpPr>
        <p:spPr>
          <a:xfrm>
            <a:off x="761981" y="4171931"/>
            <a:ext cx="10667733" cy="9525"/>
          </a:xfrm>
          <a:prstGeom prst="rect">
            <a:avLst/>
          </a:prstGeom>
          <a:solidFill>
            <a:srgbClr val="E0E0E0"/>
          </a:solidFill>
          <a:ln/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3"/>
          <p:cNvSpPr/>
          <p:nvPr/>
        </p:nvSpPr>
        <p:spPr>
          <a:xfrm>
            <a:off x="0" y="86"/>
            <a:ext cx="12191695" cy="685782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5"/>
          <p:cNvSpPr/>
          <p:nvPr/>
        </p:nvSpPr>
        <p:spPr>
          <a:xfrm>
            <a:off x="0" y="86"/>
            <a:ext cx="12191695" cy="3619410"/>
          </a:xfrm>
          <a:prstGeom prst="rect">
            <a:avLst/>
          </a:prstGeom>
          <a:solidFill>
            <a:srgbClr val="339999"/>
          </a:solidFill>
          <a:ln/>
        </p:spPr>
      </p:sp>
      <p:sp>
        <p:nvSpPr>
          <p:cNvPr id="4" name="TextBox 7"/>
          <p:cNvSpPr/>
          <p:nvPr/>
        </p:nvSpPr>
        <p:spPr>
          <a:xfrm>
            <a:off x="5029074" y="1209730"/>
            <a:ext cx="2133547" cy="6762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感谢聆听</a:t>
            </a:r>
            <a:endParaRPr lang="en-US" sz="4200" dirty="0"/>
          </a:p>
        </p:txBody>
      </p:sp>
      <p:sp>
        <p:nvSpPr>
          <p:cNvPr id="5" name="TextBox 9"/>
          <p:cNvSpPr/>
          <p:nvPr/>
        </p:nvSpPr>
        <p:spPr>
          <a:xfrm>
            <a:off x="4691689" y="2038385"/>
            <a:ext cx="2808317" cy="2000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350" spc="30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THANKS FOR LISTENING</a:t>
            </a:r>
            <a:endParaRPr lang="en-US" sz="1350" dirty="0"/>
          </a:p>
        </p:txBody>
      </p:sp>
      <p:sp>
        <p:nvSpPr>
          <p:cNvPr id="6" name="Shape 11"/>
          <p:cNvSpPr/>
          <p:nvPr/>
        </p:nvSpPr>
        <p:spPr>
          <a:xfrm>
            <a:off x="5524362" y="2390801"/>
            <a:ext cx="1142971" cy="19050"/>
          </a:xfrm>
          <a:prstGeom prst="rect">
            <a:avLst/>
          </a:prstGeom>
          <a:solidFill>
            <a:srgbClr val="FFFFFF">
              <a:alpha val="60000"/>
            </a:srgbClr>
          </a:solidFill>
          <a:ln/>
        </p:spPr>
      </p:sp>
      <p:sp>
        <p:nvSpPr>
          <p:cNvPr id="7" name="TextBox 16"/>
          <p:cNvSpPr/>
          <p:nvPr/>
        </p:nvSpPr>
        <p:spPr>
          <a:xfrm>
            <a:off x="5367203" y="5114883"/>
            <a:ext cx="1457289" cy="2000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75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如有疑问，欢迎交流</a:t>
            </a:r>
            <a:endParaRPr lang="en-US" sz="1275" dirty="0"/>
          </a:p>
        </p:txBody>
      </p:sp>
      <p:pic>
        <p:nvPicPr>
          <p:cNvPr id="8" name="Picture 19" descr="__type_image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6810290"/>
            <a:ext cx="12191695" cy="3809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2026-07-11T08:49:08Z</dcterms:created>
  <dcterms:modified xsi:type="dcterms:W3CDTF">2026-07-11T08:49:08Z</dcterms:modified>
</cp:coreProperties>
</file>